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61" r:id="rId5"/>
    <p:sldId id="262" r:id="rId6"/>
    <p:sldId id="263" r:id="rId7"/>
    <p:sldId id="265" r:id="rId8"/>
    <p:sldId id="266" r:id="rId9"/>
    <p:sldId id="267" r:id="rId10"/>
    <p:sldId id="264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без заголовка" id="{733F7AB8-238B-46FD-AB33-9438CEDA319A}">
          <p14:sldIdLst>
            <p14:sldId id="256"/>
            <p14:sldId id="257"/>
            <p14:sldId id="260"/>
            <p14:sldId id="261"/>
            <p14:sldId id="262"/>
            <p14:sldId id="263"/>
            <p14:sldId id="265"/>
            <p14:sldId id="266"/>
            <p14:sldId id="267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575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2304" y="876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27E515-F5DA-47BC-809A-FBA4F21653F2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F54CE1-BA50-4EDA-A910-52864C068B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1902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F54CE1-BA50-4EDA-A910-52864C068BE1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97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F54CE1-BA50-4EDA-A910-52864C068BE1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05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F54CE1-BA50-4EDA-A910-52864C068BE1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030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D6AE7-D5A4-4F73-B971-52CF87FB6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968750-C8E1-429E-9D2E-E5BD7230F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96A37F-4F5E-4D9B-85FC-21C0BD09B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0E2A1-32CF-4D81-9B69-5F14F2DA837F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88F485-D57E-4973-9217-5FBDB65D4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AE1883-628C-4BB4-92B1-40D011EB9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10DA5-9C7C-4266-ABD2-7099DF9E31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82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A3F48-C1EE-4998-8053-D1E9D9F96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38449" cy="14550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dirty="0"/>
              <a:t>ФЕДЕРАЛЬНОЕ ГОСУДАРСТВЕННОЕ БЮДЖЕТНОЕ ОБРАЗОВАТЕЛЬНОЕ УЧРЕЖДЕНИЕ ВЫСШЕГО ОБРАЗОВАНИЯ </a:t>
            </a:r>
            <a:br>
              <a:rPr lang="ru-RU" dirty="0"/>
            </a:br>
            <a:r>
              <a:rPr lang="ru-RU" dirty="0"/>
              <a:t>«САНКТ-ПЕТЕРБУРГСКИЙ ГОСУДАРСТВЕННЫЙ УНИВЕРСИТЕТ ТЕЛЕКОММУНИКАЦИЙ ИМ. ПРОФ. М.А. БОНЧ-БРУЕВИЧА» </a:t>
            </a:r>
            <a:br>
              <a:rPr lang="ru-RU" dirty="0"/>
            </a:br>
            <a:r>
              <a:rPr lang="ru-RU" dirty="0"/>
              <a:t>(</a:t>
            </a:r>
            <a:r>
              <a:rPr lang="ru-RU" dirty="0" err="1"/>
              <a:t>СПбГУТ</a:t>
            </a:r>
            <a:r>
              <a:rPr lang="ru-RU" dirty="0"/>
              <a:t>) 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АРХАНГЕЛЬСКИЙ КОЛЛЕДЖ ТЕЛЕКОММУНИКАЦИЙ </a:t>
            </a:r>
            <a:br>
              <a:rPr lang="ru-RU" dirty="0"/>
            </a:br>
            <a:r>
              <a:rPr lang="ru-RU" dirty="0"/>
              <a:t>ИМ. Б.Л. РОЗИНГА (ФИЛИАЛ) </a:t>
            </a:r>
            <a:r>
              <a:rPr lang="ru-RU" dirty="0" err="1"/>
              <a:t>СПбГУТ</a:t>
            </a:r>
            <a:r>
              <a:rPr lang="ru-RU" dirty="0"/>
              <a:t> </a:t>
            </a:r>
            <a:br>
              <a:rPr lang="ru-RU" dirty="0"/>
            </a:br>
            <a:r>
              <a:rPr lang="ru-RU" dirty="0"/>
              <a:t>(АКТ (ф) </a:t>
            </a:r>
            <a:r>
              <a:rPr lang="ru-RU" dirty="0" err="1"/>
              <a:t>СПбГУТ</a:t>
            </a:r>
            <a:r>
              <a:rPr lang="ru-RU" dirty="0"/>
              <a:t>) 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2AB856-44D1-4365-8031-131FC7A6D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269411"/>
            <a:ext cx="10515600" cy="2907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090424-5E68-4DC3-B321-83FE087A68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0E2A1-32CF-4D81-9B69-5F14F2DA837F}" type="datetimeFigureOut">
              <a:rPr lang="ru-RU" smtClean="0"/>
              <a:t>09.12.2025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DDADCF-90F5-4872-9039-E80D840A9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0966B3-AB9E-412A-A6B0-D6A6C66CA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10DA5-9C7C-4266-ABD2-7099DF9E31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793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4047278-09DB-4728-B6E0-AAC638868E5B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9575CD"/>
          </a:solidFill>
          <a:ln>
            <a:solidFill>
              <a:srgbClr val="9575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F29C33-5BA1-45F9-A4CB-731B4D250A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27" y="-254074"/>
            <a:ext cx="9797473" cy="1655763"/>
          </a:xfrm>
        </p:spPr>
        <p:txBody>
          <a:bodyPr/>
          <a:lstStyle/>
          <a:p>
            <a:r>
              <a:rPr lang="ru-RU" sz="1200" dirty="0">
                <a:solidFill>
                  <a:schemeClr val="bg1"/>
                </a:solidFill>
              </a:rPr>
              <a:t>ФЕДЕРАЛЬНОЕ ГОСУДАРСТВЕННОЕ БЮДЖЕТНОЕ ОБРАЗОВАТЕЛЬНОЕ УЧРЕЖДЕНИЕ ВЫСШЕГО ОБРАЗОВАНИЯ </a:t>
            </a:r>
            <a:br>
              <a:rPr lang="ru-RU" sz="1200" dirty="0">
                <a:solidFill>
                  <a:schemeClr val="bg1"/>
                </a:solidFill>
              </a:rPr>
            </a:br>
            <a:r>
              <a:rPr lang="ru-RU" sz="1200" dirty="0">
                <a:solidFill>
                  <a:schemeClr val="bg1"/>
                </a:solidFill>
              </a:rPr>
              <a:t>«САНКТ-ПЕТЕРБУРГСКИЙ ГОСУДАРСТВЕННЫЙ УНИВЕРСИТЕТ ТЕЛЕКОММУНИКАЦИЙ ИМ. ПРОФ. М.А. БОНЧ-БРУЕВИЧА» </a:t>
            </a:r>
            <a:br>
              <a:rPr lang="ru-RU" sz="1200" dirty="0">
                <a:solidFill>
                  <a:schemeClr val="bg1"/>
                </a:solidFill>
              </a:rPr>
            </a:br>
            <a:r>
              <a:rPr lang="ru-RU" sz="1200" dirty="0">
                <a:solidFill>
                  <a:schemeClr val="bg1"/>
                </a:solidFill>
              </a:rPr>
              <a:t>(</a:t>
            </a:r>
            <a:r>
              <a:rPr lang="ru-RU" sz="1200" dirty="0" err="1">
                <a:solidFill>
                  <a:schemeClr val="bg1"/>
                </a:solidFill>
              </a:rPr>
              <a:t>СПбГУТ</a:t>
            </a:r>
            <a:r>
              <a:rPr lang="ru-RU" sz="1200" dirty="0">
                <a:solidFill>
                  <a:schemeClr val="bg1"/>
                </a:solidFill>
              </a:rPr>
              <a:t>) </a:t>
            </a:r>
            <a:br>
              <a:rPr lang="ru-RU" sz="1200" dirty="0">
                <a:solidFill>
                  <a:schemeClr val="bg1"/>
                </a:solidFill>
              </a:rPr>
            </a:br>
            <a:br>
              <a:rPr lang="ru-RU" sz="1200" dirty="0">
                <a:solidFill>
                  <a:schemeClr val="bg1"/>
                </a:solidFill>
              </a:rPr>
            </a:br>
            <a:r>
              <a:rPr lang="ru-RU" sz="1200" dirty="0">
                <a:solidFill>
                  <a:schemeClr val="bg1"/>
                </a:solidFill>
              </a:rPr>
              <a:t>АРХАНГЕЛЬСКИЙ КОЛЛЕДЖ ТЕЛЕКОММУНИКАЦИЙ </a:t>
            </a:r>
            <a:br>
              <a:rPr lang="ru-RU" sz="1200" dirty="0">
                <a:solidFill>
                  <a:schemeClr val="bg1"/>
                </a:solidFill>
              </a:rPr>
            </a:br>
            <a:r>
              <a:rPr lang="ru-RU" sz="1200" dirty="0">
                <a:solidFill>
                  <a:schemeClr val="bg1"/>
                </a:solidFill>
              </a:rPr>
              <a:t>ИМ. Б.Л. РОЗИНГА (ФИЛИАЛ) </a:t>
            </a:r>
            <a:r>
              <a:rPr lang="ru-RU" sz="1200" dirty="0" err="1">
                <a:solidFill>
                  <a:schemeClr val="bg1"/>
                </a:solidFill>
              </a:rPr>
              <a:t>СПбГУТ</a:t>
            </a:r>
            <a:r>
              <a:rPr lang="ru-RU" sz="1200" dirty="0">
                <a:solidFill>
                  <a:schemeClr val="bg1"/>
                </a:solidFill>
              </a:rPr>
              <a:t> </a:t>
            </a:r>
            <a:br>
              <a:rPr lang="ru-RU" sz="1200" dirty="0">
                <a:solidFill>
                  <a:schemeClr val="bg1"/>
                </a:solidFill>
              </a:rPr>
            </a:br>
            <a:r>
              <a:rPr lang="ru-RU" sz="1200" dirty="0">
                <a:solidFill>
                  <a:schemeClr val="bg1"/>
                </a:solidFill>
              </a:rPr>
              <a:t>(АКТ (ф) </a:t>
            </a:r>
            <a:r>
              <a:rPr lang="ru-RU" sz="1200" dirty="0" err="1">
                <a:solidFill>
                  <a:schemeClr val="bg1"/>
                </a:solidFill>
              </a:rPr>
              <a:t>СПбГУТ</a:t>
            </a:r>
            <a:r>
              <a:rPr lang="ru-RU" sz="1200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F4BD00-8162-46D3-B6F5-B1006ADE9AF0}"/>
              </a:ext>
            </a:extLst>
          </p:cNvPr>
          <p:cNvSpPr txBox="1"/>
          <p:nvPr/>
        </p:nvSpPr>
        <p:spPr>
          <a:xfrm>
            <a:off x="3923145" y="1915766"/>
            <a:ext cx="4327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КУРСОВОЙ ПРОЕКТ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01B4B1-CD19-40A0-A013-4A883F39D3A9}"/>
              </a:ext>
            </a:extLst>
          </p:cNvPr>
          <p:cNvSpPr txBox="1"/>
          <p:nvPr/>
        </p:nvSpPr>
        <p:spPr>
          <a:xfrm>
            <a:off x="1727200" y="2792076"/>
            <a:ext cx="91567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РАЗРАБОТКА ОБУЧАЮЩЕЙ ПРОГРАММЫ</a:t>
            </a:r>
            <a:b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«РУССКИЙ ЯЗЫК. СИНТАКСИС И ПУНКТУАЦИЯ»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91ECB256-309C-437C-B152-F2AC62350393}"/>
              </a:ext>
            </a:extLst>
          </p:cNvPr>
          <p:cNvGrpSpPr/>
          <p:nvPr/>
        </p:nvGrpSpPr>
        <p:grpSpPr>
          <a:xfrm>
            <a:off x="193963" y="4523878"/>
            <a:ext cx="7213599" cy="752519"/>
            <a:chOff x="240146" y="3990109"/>
            <a:chExt cx="6650182" cy="75251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039DEEF-DF2A-41B9-B148-7E187E7F2C2E}"/>
                </a:ext>
              </a:extLst>
            </p:cNvPr>
            <p:cNvSpPr txBox="1"/>
            <p:nvPr/>
          </p:nvSpPr>
          <p:spPr>
            <a:xfrm>
              <a:off x="240146" y="3990109"/>
              <a:ext cx="66501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Студент группы ИСПП-21: </a:t>
              </a:r>
              <a:r>
                <a:rPr lang="ru-RU" dirty="0" err="1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Вепрёв</a:t>
              </a:r>
              <a:r>
                <a:rPr lang="ru-RU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 Александр Михайлович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623DD83-F2EA-49FE-B6A7-71620CA3BF97}"/>
                </a:ext>
              </a:extLst>
            </p:cNvPr>
            <p:cNvSpPr txBox="1"/>
            <p:nvPr/>
          </p:nvSpPr>
          <p:spPr>
            <a:xfrm>
              <a:off x="240146" y="4373296"/>
              <a:ext cx="66501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Руководитель: </a:t>
              </a:r>
              <a:r>
                <a:rPr lang="ru-RU" dirty="0" err="1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Маломан</a:t>
              </a:r>
              <a:r>
                <a:rPr lang="ru-RU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 Юлия Сергеевна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ADF00D8-E8D2-48D5-B0BD-34EDFF1C4EBE}"/>
              </a:ext>
            </a:extLst>
          </p:cNvPr>
          <p:cNvSpPr txBox="1"/>
          <p:nvPr/>
        </p:nvSpPr>
        <p:spPr>
          <a:xfrm>
            <a:off x="4987636" y="6403263"/>
            <a:ext cx="2198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Архангельск, 2025</a:t>
            </a:r>
          </a:p>
        </p:txBody>
      </p:sp>
    </p:spTree>
    <p:extLst>
      <p:ext uri="{BB962C8B-B14F-4D97-AF65-F5344CB8AC3E}">
        <p14:creationId xmlns:p14="http://schemas.microsoft.com/office/powerpoint/2010/main" val="825340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D86AB7-4336-4DEB-8CB6-0D96926A1059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9575CD"/>
          </a:solidFill>
          <a:ln>
            <a:solidFill>
              <a:srgbClr val="9575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75180-431E-4561-A675-F52C67D81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348" y="389289"/>
            <a:ext cx="7278254" cy="859127"/>
          </a:xfrm>
        </p:spPr>
        <p:txBody>
          <a:bodyPr/>
          <a:lstStyle/>
          <a:p>
            <a:pPr algn="l"/>
            <a:r>
              <a:rPr lang="ru-RU" sz="5400" b="1" dirty="0">
                <a:solidFill>
                  <a:schemeClr val="bg1"/>
                </a:solidFill>
              </a:rPr>
              <a:t>Актуальность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636EA-8D1E-437A-9952-960055EA4C5F}"/>
              </a:ext>
            </a:extLst>
          </p:cNvPr>
          <p:cNvSpPr txBox="1"/>
          <p:nvPr/>
        </p:nvSpPr>
        <p:spPr>
          <a:xfrm>
            <a:off x="387348" y="1960779"/>
            <a:ext cx="7767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Проблема систематизации знаний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E1BC0E-B374-4B7B-BEBD-CD59EADBE306}"/>
              </a:ext>
            </a:extLst>
          </p:cNvPr>
          <p:cNvSpPr txBox="1"/>
          <p:nvPr/>
        </p:nvSpPr>
        <p:spPr>
          <a:xfrm>
            <a:off x="387348" y="3010484"/>
            <a:ext cx="9707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Необходимость автоматизации процессов: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519FA7-9436-4A8F-A12C-429FE4296FEF}"/>
              </a:ext>
            </a:extLst>
          </p:cNvPr>
          <p:cNvSpPr txBox="1"/>
          <p:nvPr/>
        </p:nvSpPr>
        <p:spPr>
          <a:xfrm>
            <a:off x="582468" y="3533704"/>
            <a:ext cx="8802832" cy="1679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lvl="1" indent="266700">
              <a:lnSpc>
                <a:spcPct val="150000"/>
              </a:lnSpc>
              <a:buFont typeface="+mj-lt"/>
              <a:buAutoNum type="arabicPeriod"/>
              <a:tabLst>
                <a:tab pos="1081088" algn="l"/>
              </a:tabLst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Предоставление учебной информации</a:t>
            </a:r>
          </a:p>
          <a:p>
            <a:pPr marL="268288" lvl="1" indent="266700">
              <a:lnSpc>
                <a:spcPct val="150000"/>
              </a:lnSpc>
              <a:buFont typeface="+mj-lt"/>
              <a:buAutoNum type="arabicPeriod"/>
              <a:tabLst>
                <a:tab pos="1081088" algn="l"/>
              </a:tabLst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Изучение материалов</a:t>
            </a:r>
          </a:p>
          <a:p>
            <a:pPr marL="268288" lvl="1" indent="266700">
              <a:lnSpc>
                <a:spcPct val="150000"/>
              </a:lnSpc>
              <a:buFont typeface="+mj-lt"/>
              <a:buAutoNum type="arabicPeriod"/>
              <a:tabLst>
                <a:tab pos="1081088" algn="l"/>
              </a:tabLst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Проверка знаний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E1D530-3A3E-4CAA-AA73-77D0E213941D}"/>
              </a:ext>
            </a:extLst>
          </p:cNvPr>
          <p:cNvSpPr txBox="1"/>
          <p:nvPr/>
        </p:nvSpPr>
        <p:spPr>
          <a:xfrm>
            <a:off x="11179278" y="6211669"/>
            <a:ext cx="1012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2/9</a:t>
            </a:r>
            <a:endParaRPr lang="ru-RU" sz="3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739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D86AB7-4336-4DEB-8CB6-0D96926A1059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9575CD"/>
          </a:solidFill>
          <a:ln>
            <a:solidFill>
              <a:srgbClr val="9575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75180-431E-4561-A675-F52C67D81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393" y="463357"/>
            <a:ext cx="9845963" cy="859127"/>
          </a:xfrm>
        </p:spPr>
        <p:txBody>
          <a:bodyPr/>
          <a:lstStyle/>
          <a:p>
            <a:pPr algn="l"/>
            <a:r>
              <a:rPr lang="ru-RU" sz="5400" b="1" dirty="0">
                <a:solidFill>
                  <a:schemeClr val="bg1"/>
                </a:solidFill>
              </a:rPr>
              <a:t>Целевая аудитория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636EA-8D1E-437A-9952-960055EA4C5F}"/>
              </a:ext>
            </a:extLst>
          </p:cNvPr>
          <p:cNvSpPr txBox="1"/>
          <p:nvPr/>
        </p:nvSpPr>
        <p:spPr>
          <a:xfrm>
            <a:off x="406396" y="1972391"/>
            <a:ext cx="9416063" cy="538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Студенты колледжей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8B907F-FAA5-4D00-A0CE-2DB0DD2F67FE}"/>
              </a:ext>
            </a:extLst>
          </p:cNvPr>
          <p:cNvSpPr txBox="1"/>
          <p:nvPr/>
        </p:nvSpPr>
        <p:spPr>
          <a:xfrm>
            <a:off x="406392" y="3161165"/>
            <a:ext cx="94160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Студенты филологических образовательных учреждений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DE4F0A-3833-411D-80FF-637E728A1F7A}"/>
              </a:ext>
            </a:extLst>
          </p:cNvPr>
          <p:cNvSpPr txBox="1"/>
          <p:nvPr/>
        </p:nvSpPr>
        <p:spPr>
          <a:xfrm>
            <a:off x="406393" y="4729961"/>
            <a:ext cx="9416063" cy="538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Преподаватели русского языка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271860-A087-44F5-BACB-F078B701DC10}"/>
              </a:ext>
            </a:extLst>
          </p:cNvPr>
          <p:cNvSpPr txBox="1"/>
          <p:nvPr/>
        </p:nvSpPr>
        <p:spPr>
          <a:xfrm>
            <a:off x="11179278" y="6211669"/>
            <a:ext cx="1012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r>
              <a:rPr lang="en-US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/9</a:t>
            </a:r>
            <a:endParaRPr lang="ru-RU" sz="3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387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D86AB7-4336-4DEB-8CB6-0D96926A1059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9575CD"/>
          </a:solidFill>
          <a:ln>
            <a:solidFill>
              <a:srgbClr val="9575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75180-431E-4561-A675-F52C67D81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393" y="463357"/>
            <a:ext cx="7531100" cy="859127"/>
          </a:xfrm>
        </p:spPr>
        <p:txBody>
          <a:bodyPr/>
          <a:lstStyle/>
          <a:p>
            <a:pPr algn="l"/>
            <a:r>
              <a:rPr lang="ru-RU" sz="5400" b="1" dirty="0">
                <a:solidFill>
                  <a:schemeClr val="bg1"/>
                </a:solidFill>
              </a:rPr>
              <a:t>Цель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774C1F29-481A-407E-A6BF-6BA31D80448E}"/>
              </a:ext>
            </a:extLst>
          </p:cNvPr>
          <p:cNvGrpSpPr/>
          <p:nvPr/>
        </p:nvGrpSpPr>
        <p:grpSpPr>
          <a:xfrm>
            <a:off x="539744" y="2266109"/>
            <a:ext cx="11112512" cy="2252758"/>
            <a:chOff x="406393" y="1785842"/>
            <a:chExt cx="11112512" cy="2252758"/>
          </a:xfrm>
        </p:grpSpPr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3CF16B14-ECCE-46D4-9E99-E3788E51434A}"/>
                </a:ext>
              </a:extLst>
            </p:cNvPr>
            <p:cNvSpPr/>
            <p:nvPr/>
          </p:nvSpPr>
          <p:spPr>
            <a:xfrm>
              <a:off x="406393" y="1785842"/>
              <a:ext cx="11112512" cy="2252758"/>
            </a:xfrm>
            <a:prstGeom prst="roundRect">
              <a:avLst/>
            </a:prstGeom>
            <a:solidFill>
              <a:srgbClr val="9575CD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0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BA636EA-8D1E-437A-9952-960055EA4C5F}"/>
                </a:ext>
              </a:extLst>
            </p:cNvPr>
            <p:cNvSpPr txBox="1"/>
            <p:nvPr/>
          </p:nvSpPr>
          <p:spPr>
            <a:xfrm>
              <a:off x="673095" y="2147564"/>
              <a:ext cx="1050618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Разработать </a:t>
              </a:r>
              <a:r>
                <a:rPr lang="ru-RU" sz="2400" dirty="0">
                  <a:solidFill>
                    <a:schemeClr val="bg1"/>
                  </a:solidFill>
                  <a:effectLst/>
                  <a:latin typeface="Verdana" panose="020B0604030504040204" pitchFamily="34" charset="0"/>
                  <a:ea typeface="Verdana" panose="020B0604030504040204" pitchFamily="34" charset="0"/>
                </a:rPr>
                <a:t>обучающую программу, предоставляющую доступ к учебным материалам по разделам «Синтаксис» и «Пунктуация» и возможность прохождения тестовых заданий для проверки усвоенного материала</a:t>
              </a:r>
              <a:endPara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D62D589-35F1-4660-9844-56C5AA43BE78}"/>
              </a:ext>
            </a:extLst>
          </p:cNvPr>
          <p:cNvSpPr txBox="1"/>
          <p:nvPr/>
        </p:nvSpPr>
        <p:spPr>
          <a:xfrm>
            <a:off x="11179278" y="6211669"/>
            <a:ext cx="1012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</a:t>
            </a:r>
            <a:r>
              <a:rPr lang="en-US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/9</a:t>
            </a:r>
            <a:endParaRPr lang="ru-RU" sz="3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048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D86AB7-4336-4DEB-8CB6-0D96926A1059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9575CD"/>
          </a:solidFill>
          <a:ln>
            <a:solidFill>
              <a:srgbClr val="9575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75180-431E-4561-A675-F52C67D81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393" y="463357"/>
            <a:ext cx="7531100" cy="859127"/>
          </a:xfrm>
        </p:spPr>
        <p:txBody>
          <a:bodyPr/>
          <a:lstStyle/>
          <a:p>
            <a:pPr algn="l"/>
            <a:r>
              <a:rPr lang="ru-RU" sz="5400" b="1" dirty="0">
                <a:solidFill>
                  <a:schemeClr val="bg1"/>
                </a:solidFill>
              </a:rPr>
              <a:t>Задачи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DE01C8-8924-438C-8942-32C0C276BBC8}"/>
              </a:ext>
            </a:extLst>
          </p:cNvPr>
          <p:cNvSpPr txBox="1"/>
          <p:nvPr/>
        </p:nvSpPr>
        <p:spPr>
          <a:xfrm>
            <a:off x="406396" y="1972391"/>
            <a:ext cx="94160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Проанализировать требования и определить функциональность приложения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B3249B-6037-490E-8C38-702A53947758}"/>
              </a:ext>
            </a:extLst>
          </p:cNvPr>
          <p:cNvSpPr txBox="1"/>
          <p:nvPr/>
        </p:nvSpPr>
        <p:spPr>
          <a:xfrm>
            <a:off x="406392" y="3294876"/>
            <a:ext cx="94160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Спроектировать архитектуру приложения и структуру базы данных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B3E73A-7439-433B-A502-6602B6410DD9}"/>
              </a:ext>
            </a:extLst>
          </p:cNvPr>
          <p:cNvSpPr txBox="1"/>
          <p:nvPr/>
        </p:nvSpPr>
        <p:spPr>
          <a:xfrm>
            <a:off x="406392" y="4703365"/>
            <a:ext cx="94160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Разработать интерфейс и бизнес-логику приложения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235DA0-C390-4980-8D51-61759B5D319F}"/>
              </a:ext>
            </a:extLst>
          </p:cNvPr>
          <p:cNvSpPr txBox="1"/>
          <p:nvPr/>
        </p:nvSpPr>
        <p:spPr>
          <a:xfrm>
            <a:off x="11179278" y="6211669"/>
            <a:ext cx="1012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  <a:r>
              <a:rPr lang="en-US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/9</a:t>
            </a:r>
            <a:endParaRPr lang="ru-RU" sz="3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965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D86AB7-4336-4DEB-8CB6-0D96926A1059}"/>
              </a:ext>
            </a:extLst>
          </p:cNvPr>
          <p:cNvSpPr/>
          <p:nvPr/>
        </p:nvSpPr>
        <p:spPr>
          <a:xfrm>
            <a:off x="0" y="1"/>
            <a:ext cx="12192000" cy="6870830"/>
          </a:xfrm>
          <a:prstGeom prst="rect">
            <a:avLst/>
          </a:prstGeom>
          <a:solidFill>
            <a:srgbClr val="9575CD"/>
          </a:solidFill>
          <a:ln>
            <a:solidFill>
              <a:srgbClr val="9575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75180-431E-4561-A675-F52C67D81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392" y="463357"/>
            <a:ext cx="8636007" cy="859127"/>
          </a:xfrm>
        </p:spPr>
        <p:txBody>
          <a:bodyPr/>
          <a:lstStyle/>
          <a:p>
            <a:pPr algn="l"/>
            <a:r>
              <a:rPr lang="ru-RU" sz="5400" b="1" dirty="0">
                <a:solidFill>
                  <a:schemeClr val="bg1"/>
                </a:solidFill>
              </a:rPr>
              <a:t>Средства разработки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DE01C8-8924-438C-8942-32C0C276BBC8}"/>
              </a:ext>
            </a:extLst>
          </p:cNvPr>
          <p:cNvSpPr txBox="1"/>
          <p:nvPr/>
        </p:nvSpPr>
        <p:spPr>
          <a:xfrm>
            <a:off x="406387" y="1889358"/>
            <a:ext cx="9416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Язык программирования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B3249B-6037-490E-8C38-702A53947758}"/>
              </a:ext>
            </a:extLst>
          </p:cNvPr>
          <p:cNvSpPr txBox="1"/>
          <p:nvPr/>
        </p:nvSpPr>
        <p:spPr>
          <a:xfrm>
            <a:off x="406389" y="3742997"/>
            <a:ext cx="9416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Среда разработки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B3E73A-7439-433B-A502-6602B6410DD9}"/>
              </a:ext>
            </a:extLst>
          </p:cNvPr>
          <p:cNvSpPr txBox="1"/>
          <p:nvPr/>
        </p:nvSpPr>
        <p:spPr>
          <a:xfrm>
            <a:off x="406390" y="5833383"/>
            <a:ext cx="9416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ORM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03350C74-5EFC-44E4-9A68-203E7504745C}"/>
              </a:ext>
            </a:extLst>
          </p:cNvPr>
          <p:cNvGrpSpPr/>
          <p:nvPr/>
        </p:nvGrpSpPr>
        <p:grpSpPr>
          <a:xfrm>
            <a:off x="9822450" y="1785840"/>
            <a:ext cx="1086568" cy="991971"/>
            <a:chOff x="6721014" y="1937295"/>
            <a:chExt cx="1250470" cy="1141603"/>
          </a:xfrm>
        </p:grpSpPr>
        <p:sp>
          <p:nvSpPr>
            <p:cNvPr id="8" name="Прямоугольник: скругленные углы 7">
              <a:extLst>
                <a:ext uri="{FF2B5EF4-FFF2-40B4-BE49-F238E27FC236}">
                  <a16:creationId xmlns:a16="http://schemas.microsoft.com/office/drawing/2014/main" id="{6088C673-CF21-4C25-B7D7-7E549F0B030F}"/>
                </a:ext>
              </a:extLst>
            </p:cNvPr>
            <p:cNvSpPr/>
            <p:nvPr/>
          </p:nvSpPr>
          <p:spPr>
            <a:xfrm>
              <a:off x="6721014" y="1937295"/>
              <a:ext cx="1250470" cy="1141603"/>
            </a:xfrm>
            <a:prstGeom prst="roundRect">
              <a:avLst/>
            </a:prstGeom>
            <a:solidFill>
              <a:srgbClr val="9575CD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034" name="Picture 10" descr="Picture background">
              <a:extLst>
                <a:ext uri="{FF2B5EF4-FFF2-40B4-BE49-F238E27FC236}">
                  <a16:creationId xmlns:a16="http://schemas.microsoft.com/office/drawing/2014/main" id="{A1B555BC-F986-4737-B801-55CB1FBA20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1428" y="1974577"/>
              <a:ext cx="989641" cy="1063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6F5A77EE-6774-402C-AF15-DB1401B17822}"/>
              </a:ext>
            </a:extLst>
          </p:cNvPr>
          <p:cNvGrpSpPr/>
          <p:nvPr/>
        </p:nvGrpSpPr>
        <p:grpSpPr>
          <a:xfrm>
            <a:off x="9709097" y="3634274"/>
            <a:ext cx="1313271" cy="991972"/>
            <a:chOff x="6991900" y="2865312"/>
            <a:chExt cx="1137398" cy="859127"/>
          </a:xfrm>
        </p:grpSpPr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2C06203B-3667-40C0-A520-A934CC4AB1FB}"/>
                </a:ext>
              </a:extLst>
            </p:cNvPr>
            <p:cNvSpPr/>
            <p:nvPr/>
          </p:nvSpPr>
          <p:spPr>
            <a:xfrm>
              <a:off x="7090071" y="2865312"/>
              <a:ext cx="941056" cy="859127"/>
            </a:xfrm>
            <a:prstGeom prst="roundRect">
              <a:avLst/>
            </a:prstGeom>
            <a:solidFill>
              <a:srgbClr val="9575CD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2" name="Picture 4" descr="Picture background">
              <a:extLst>
                <a:ext uri="{FF2B5EF4-FFF2-40B4-BE49-F238E27FC236}">
                  <a16:creationId xmlns:a16="http://schemas.microsoft.com/office/drawing/2014/main" id="{5C964909-2B33-4F69-8E97-C92F0410C9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6991900" y="2939440"/>
              <a:ext cx="1137398" cy="7108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74A9D434-D62B-4407-99C2-EDCF26C88B9C}"/>
              </a:ext>
            </a:extLst>
          </p:cNvPr>
          <p:cNvSpPr txBox="1"/>
          <p:nvPr/>
        </p:nvSpPr>
        <p:spPr>
          <a:xfrm>
            <a:off x="406390" y="4776183"/>
            <a:ext cx="23109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СУБД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FD2B94BD-8F96-4D8D-B173-E4A8EEB80B51}"/>
              </a:ext>
            </a:extLst>
          </p:cNvPr>
          <p:cNvGrpSpPr/>
          <p:nvPr/>
        </p:nvGrpSpPr>
        <p:grpSpPr>
          <a:xfrm>
            <a:off x="8389750" y="4551498"/>
            <a:ext cx="1086569" cy="991971"/>
            <a:chOff x="3093908" y="3766800"/>
            <a:chExt cx="1025879" cy="936565"/>
          </a:xfrm>
        </p:grpSpPr>
        <p:sp>
          <p:nvSpPr>
            <p:cNvPr id="25" name="Прямоугольник: скругленные углы 24">
              <a:extLst>
                <a:ext uri="{FF2B5EF4-FFF2-40B4-BE49-F238E27FC236}">
                  <a16:creationId xmlns:a16="http://schemas.microsoft.com/office/drawing/2014/main" id="{A061C960-7FB5-4D94-B422-993A936F6DB0}"/>
                </a:ext>
              </a:extLst>
            </p:cNvPr>
            <p:cNvSpPr/>
            <p:nvPr/>
          </p:nvSpPr>
          <p:spPr>
            <a:xfrm>
              <a:off x="3093908" y="3766800"/>
              <a:ext cx="1025879" cy="936565"/>
            </a:xfrm>
            <a:prstGeom prst="roundRect">
              <a:avLst/>
            </a:prstGeom>
            <a:solidFill>
              <a:srgbClr val="9575CD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036" name="Picture 12" descr="Picture background">
              <a:extLst>
                <a:ext uri="{FF2B5EF4-FFF2-40B4-BE49-F238E27FC236}">
                  <a16:creationId xmlns:a16="http://schemas.microsoft.com/office/drawing/2014/main" id="{94892BE9-430E-4D9E-8091-B5637179B7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7082" y="3954609"/>
              <a:ext cx="879529" cy="4545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22EF3A94-2C00-4F98-8616-5B310755B601}"/>
              </a:ext>
            </a:extLst>
          </p:cNvPr>
          <p:cNvGrpSpPr/>
          <p:nvPr/>
        </p:nvGrpSpPr>
        <p:grpSpPr>
          <a:xfrm>
            <a:off x="9825907" y="5644028"/>
            <a:ext cx="1086569" cy="991971"/>
            <a:chOff x="2881602" y="4781475"/>
            <a:chExt cx="1086569" cy="991971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C9A8E2F5-1112-48A4-B21D-FD8CF6B3F124}"/>
                </a:ext>
              </a:extLst>
            </p:cNvPr>
            <p:cNvSpPr/>
            <p:nvPr/>
          </p:nvSpPr>
          <p:spPr>
            <a:xfrm>
              <a:off x="2881602" y="4781475"/>
              <a:ext cx="1086569" cy="991971"/>
            </a:xfrm>
            <a:prstGeom prst="roundRect">
              <a:avLst/>
            </a:prstGeom>
            <a:solidFill>
              <a:srgbClr val="9575CD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038" name="Picture 14">
              <a:extLst>
                <a:ext uri="{FF2B5EF4-FFF2-40B4-BE49-F238E27FC236}">
                  <a16:creationId xmlns:a16="http://schemas.microsoft.com/office/drawing/2014/main" id="{D00749DB-3BCA-4BE5-8F01-741EE710BE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5590" y="4871962"/>
              <a:ext cx="838592" cy="8385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6ADA1761-37A7-424B-B2F4-A60300700D95}"/>
              </a:ext>
            </a:extLst>
          </p:cNvPr>
          <p:cNvGrpSpPr/>
          <p:nvPr/>
        </p:nvGrpSpPr>
        <p:grpSpPr>
          <a:xfrm>
            <a:off x="8389750" y="2813107"/>
            <a:ext cx="1086569" cy="991971"/>
            <a:chOff x="6701981" y="4816976"/>
            <a:chExt cx="1086569" cy="991971"/>
          </a:xfrm>
        </p:grpSpPr>
        <p:sp>
          <p:nvSpPr>
            <p:cNvPr id="36" name="Прямоугольник: скругленные углы 35">
              <a:extLst>
                <a:ext uri="{FF2B5EF4-FFF2-40B4-BE49-F238E27FC236}">
                  <a16:creationId xmlns:a16="http://schemas.microsoft.com/office/drawing/2014/main" id="{8A0E47AA-D1DA-493C-8D5A-DB7B23D7392B}"/>
                </a:ext>
              </a:extLst>
            </p:cNvPr>
            <p:cNvSpPr/>
            <p:nvPr/>
          </p:nvSpPr>
          <p:spPr>
            <a:xfrm>
              <a:off x="6701981" y="4816976"/>
              <a:ext cx="1086569" cy="991971"/>
            </a:xfrm>
            <a:prstGeom prst="roundRect">
              <a:avLst/>
            </a:prstGeom>
            <a:solidFill>
              <a:srgbClr val="9575CD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040" name="Picture 16" descr="Picture background">
              <a:extLst>
                <a:ext uri="{FF2B5EF4-FFF2-40B4-BE49-F238E27FC236}">
                  <a16:creationId xmlns:a16="http://schemas.microsoft.com/office/drawing/2014/main" id="{163F9C1F-4BC7-43A2-94EC-6FB074D4E6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26046" y="4918661"/>
              <a:ext cx="838437" cy="8384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B697CE8B-51D9-43A4-AC20-894D1D936C6A}"/>
              </a:ext>
            </a:extLst>
          </p:cNvPr>
          <p:cNvSpPr txBox="1"/>
          <p:nvPr/>
        </p:nvSpPr>
        <p:spPr>
          <a:xfrm>
            <a:off x="406387" y="2848934"/>
            <a:ext cx="9416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Платформа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8E6945D-4BD4-4350-8A4F-46FC7DD16881}"/>
              </a:ext>
            </a:extLst>
          </p:cNvPr>
          <p:cNvSpPr txBox="1"/>
          <p:nvPr/>
        </p:nvSpPr>
        <p:spPr>
          <a:xfrm>
            <a:off x="11179278" y="6211669"/>
            <a:ext cx="1012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</a:t>
            </a:r>
            <a:r>
              <a:rPr lang="en-US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/9</a:t>
            </a:r>
            <a:endParaRPr lang="ru-RU" sz="3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2585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D86AB7-4336-4DEB-8CB6-0D96926A1059}"/>
              </a:ext>
            </a:extLst>
          </p:cNvPr>
          <p:cNvSpPr/>
          <p:nvPr/>
        </p:nvSpPr>
        <p:spPr>
          <a:xfrm>
            <a:off x="0" y="1"/>
            <a:ext cx="12192000" cy="6870830"/>
          </a:xfrm>
          <a:prstGeom prst="rect">
            <a:avLst/>
          </a:prstGeom>
          <a:solidFill>
            <a:srgbClr val="9575CD"/>
          </a:solidFill>
          <a:ln>
            <a:solidFill>
              <a:srgbClr val="9575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75180-431E-4561-A675-F52C67D81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392" y="463357"/>
            <a:ext cx="8826098" cy="859127"/>
          </a:xfrm>
        </p:spPr>
        <p:txBody>
          <a:bodyPr/>
          <a:lstStyle/>
          <a:p>
            <a:pPr algn="l"/>
            <a:r>
              <a:rPr lang="ru-RU" sz="5400" b="1" dirty="0">
                <a:solidFill>
                  <a:schemeClr val="bg1"/>
                </a:solidFill>
              </a:rPr>
              <a:t>Архитектура системы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887EE5F8-5CE6-4220-B43C-3BEDE9AF710A}"/>
              </a:ext>
            </a:extLst>
          </p:cNvPr>
          <p:cNvGrpSpPr/>
          <p:nvPr/>
        </p:nvGrpSpPr>
        <p:grpSpPr>
          <a:xfrm>
            <a:off x="-803312" y="2400648"/>
            <a:ext cx="12672130" cy="3339751"/>
            <a:chOff x="-420962" y="2569320"/>
            <a:chExt cx="8370515" cy="2206057"/>
          </a:xfrm>
        </p:grpSpPr>
        <p:sp>
          <p:nvSpPr>
            <p:cNvPr id="26" name="Прямоугольник: скругленные углы 25">
              <a:extLst>
                <a:ext uri="{FF2B5EF4-FFF2-40B4-BE49-F238E27FC236}">
                  <a16:creationId xmlns:a16="http://schemas.microsoft.com/office/drawing/2014/main" id="{27F6CD6A-800C-4F03-9073-12A9CA5CC357}"/>
                </a:ext>
              </a:extLst>
            </p:cNvPr>
            <p:cNvSpPr/>
            <p:nvPr/>
          </p:nvSpPr>
          <p:spPr>
            <a:xfrm>
              <a:off x="406390" y="2569320"/>
              <a:ext cx="4055074" cy="2206057"/>
            </a:xfrm>
            <a:prstGeom prst="roundRect">
              <a:avLst/>
            </a:prstGeom>
            <a:solidFill>
              <a:srgbClr val="9575CD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8" name="Прямоугольник: скругленные углы 27">
              <a:extLst>
                <a:ext uri="{FF2B5EF4-FFF2-40B4-BE49-F238E27FC236}">
                  <a16:creationId xmlns:a16="http://schemas.microsoft.com/office/drawing/2014/main" id="{BB859163-91AA-448C-B89B-CFC6F193B60B}"/>
                </a:ext>
              </a:extLst>
            </p:cNvPr>
            <p:cNvSpPr/>
            <p:nvPr/>
          </p:nvSpPr>
          <p:spPr>
            <a:xfrm>
              <a:off x="5599580" y="3340276"/>
              <a:ext cx="2349973" cy="1278441"/>
            </a:xfrm>
            <a:prstGeom prst="roundRect">
              <a:avLst/>
            </a:prstGeom>
            <a:solidFill>
              <a:srgbClr val="9575CD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4000" dirty="0"/>
                <a:t>КЛИЕНТ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74C8681-D558-4681-8DC7-21A78F3D9920}"/>
                </a:ext>
              </a:extLst>
            </p:cNvPr>
            <p:cNvSpPr txBox="1"/>
            <p:nvPr/>
          </p:nvSpPr>
          <p:spPr>
            <a:xfrm>
              <a:off x="-420962" y="2586686"/>
              <a:ext cx="5830037" cy="467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4000" dirty="0">
                  <a:solidFill>
                    <a:schemeClr val="bg1"/>
                  </a:solidFill>
                </a:rPr>
                <a:t>СЕРВЕР ВИРТУАЛИЗАЦИИ</a:t>
              </a:r>
            </a:p>
          </p:txBody>
        </p:sp>
        <p:sp>
          <p:nvSpPr>
            <p:cNvPr id="29" name="Прямоугольник: скругленные углы 28">
              <a:extLst>
                <a:ext uri="{FF2B5EF4-FFF2-40B4-BE49-F238E27FC236}">
                  <a16:creationId xmlns:a16="http://schemas.microsoft.com/office/drawing/2014/main" id="{53B8246F-D947-419B-986C-EE726552352A}"/>
                </a:ext>
              </a:extLst>
            </p:cNvPr>
            <p:cNvSpPr/>
            <p:nvPr/>
          </p:nvSpPr>
          <p:spPr>
            <a:xfrm>
              <a:off x="646280" y="3342844"/>
              <a:ext cx="3684938" cy="1278441"/>
            </a:xfrm>
            <a:prstGeom prst="roundRect">
              <a:avLst/>
            </a:prstGeom>
            <a:solidFill>
              <a:srgbClr val="9575CD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dirty="0"/>
                <a:t>Виртуальный выделенный сервер</a:t>
              </a:r>
              <a:br>
                <a:rPr lang="en-US" sz="4000" dirty="0"/>
              </a:br>
              <a:r>
                <a:rPr lang="ru-RU" sz="4000" dirty="0"/>
                <a:t>Сервер СУБД </a:t>
              </a:r>
              <a:r>
                <a:rPr lang="en-US" sz="4000" dirty="0"/>
                <a:t>MySQL</a:t>
              </a:r>
              <a:endParaRPr lang="ru-RU" sz="4000" dirty="0"/>
            </a:p>
          </p:txBody>
        </p: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F2BA3EF0-A57A-4EF5-9069-442131D1F47E}"/>
                </a:ext>
              </a:extLst>
            </p:cNvPr>
            <p:cNvCxnSpPr>
              <a:cxnSpLocks/>
              <a:stCxn id="28" idx="1"/>
              <a:endCxn id="29" idx="3"/>
            </p:cNvCxnSpPr>
            <p:nvPr/>
          </p:nvCxnSpPr>
          <p:spPr>
            <a:xfrm flipH="1">
              <a:off x="4331218" y="3979497"/>
              <a:ext cx="1268362" cy="256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93C73A61-0009-4ED8-AE17-099A26300D79}"/>
              </a:ext>
            </a:extLst>
          </p:cNvPr>
          <p:cNvSpPr txBox="1"/>
          <p:nvPr/>
        </p:nvSpPr>
        <p:spPr>
          <a:xfrm>
            <a:off x="11179278" y="6211669"/>
            <a:ext cx="1012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7</a:t>
            </a:r>
            <a:r>
              <a:rPr lang="en-US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/9</a:t>
            </a:r>
            <a:endParaRPr lang="ru-RU" sz="3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9AA4B6-267C-45C8-9874-6227779D8103}"/>
              </a:ext>
            </a:extLst>
          </p:cNvPr>
          <p:cNvSpPr txBox="1"/>
          <p:nvPr/>
        </p:nvSpPr>
        <p:spPr>
          <a:xfrm>
            <a:off x="6610851" y="4161359"/>
            <a:ext cx="1583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63307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tcp</a:t>
            </a:r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391C4B-0CAA-4AEC-AA3D-03FE19959F59}"/>
              </a:ext>
            </a:extLst>
          </p:cNvPr>
          <p:cNvSpPr txBox="1"/>
          <p:nvPr/>
        </p:nvSpPr>
        <p:spPr>
          <a:xfrm>
            <a:off x="-559022" y="3063316"/>
            <a:ext cx="8155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bg1"/>
                </a:solidFill>
              </a:rPr>
              <a:t>Proxmox</a:t>
            </a:r>
            <a:r>
              <a:rPr lang="en-US" sz="2400" dirty="0">
                <a:solidFill>
                  <a:schemeClr val="bg1"/>
                </a:solidFill>
              </a:rPr>
              <a:t> Virtual </a:t>
            </a:r>
            <a:r>
              <a:rPr lang="en-US" sz="2400" dirty="0" err="1">
                <a:solidFill>
                  <a:schemeClr val="bg1"/>
                </a:solidFill>
              </a:rPr>
              <a:t>Enviroment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BCBF1B-53EF-450C-B5CA-0A8A55068352}"/>
              </a:ext>
            </a:extLst>
          </p:cNvPr>
          <p:cNvSpPr txBox="1"/>
          <p:nvPr/>
        </p:nvSpPr>
        <p:spPr>
          <a:xfrm>
            <a:off x="-4702629" y="-1712686"/>
            <a:ext cx="4143607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Серверная часть реализована в виде СУБД </a:t>
            </a:r>
            <a:r>
              <a:rPr lang="en-US" dirty="0" err="1"/>
              <a:t>MySql</a:t>
            </a:r>
            <a:r>
              <a:rPr lang="ru-RU" dirty="0"/>
              <a:t>, развернутой на  виртуальном выделенном сервере в кластере (кластер несколько устройств в одном которые выполняют одну задачу) </a:t>
            </a:r>
            <a:r>
              <a:rPr lang="en-US" dirty="0" err="1"/>
              <a:t>Proxmox</a:t>
            </a:r>
            <a:r>
              <a:rPr lang="en-US" dirty="0"/>
              <a:t> (</a:t>
            </a:r>
            <a:r>
              <a:rPr lang="ru-RU" dirty="0"/>
              <a:t>система виртуализации с открытым исходным кодом распространяется по открытой лицензии </a:t>
            </a:r>
            <a:r>
              <a:rPr lang="en-US" dirty="0"/>
              <a:t>GNU AGPLv3</a:t>
            </a:r>
            <a:r>
              <a:rPr lang="ru-RU" dirty="0"/>
              <a:t> которая позволяет использовать ее в коммерческих целях без покупки лицензии</a:t>
            </a:r>
            <a:r>
              <a:rPr lang="en-US" dirty="0"/>
              <a:t>)</a:t>
            </a:r>
            <a:r>
              <a:rPr lang="ru-RU" dirty="0"/>
              <a:t>.</a:t>
            </a:r>
            <a:br>
              <a:rPr lang="en-US" dirty="0"/>
            </a:br>
            <a:br>
              <a:rPr lang="en-US" dirty="0"/>
            </a:br>
            <a:r>
              <a:rPr lang="ru-RU" dirty="0"/>
              <a:t>Бесплатно и открытый код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клиентское часть представляет собой десктопное приложение</a:t>
            </a:r>
            <a:r>
              <a:rPr lang="en-US" dirty="0"/>
              <a:t> </a:t>
            </a:r>
            <a:r>
              <a:rPr lang="ru-RU" dirty="0"/>
              <a:t>на </a:t>
            </a:r>
            <a:r>
              <a:rPr lang="en-US" dirty="0" err="1"/>
              <a:t>wpf</a:t>
            </a:r>
            <a:r>
              <a:rPr lang="en-US" dirty="0"/>
              <a:t> </a:t>
            </a:r>
            <a:r>
              <a:rPr lang="en-US" dirty="0" err="1"/>
              <a:t>c#</a:t>
            </a:r>
            <a:br>
              <a:rPr lang="ru-RU" dirty="0"/>
            </a:br>
            <a:br>
              <a:rPr lang="ru-RU" dirty="0"/>
            </a:br>
            <a:r>
              <a:rPr lang="ru-RU" dirty="0"/>
              <a:t>серверная часть представлена СУБД </a:t>
            </a:r>
            <a:r>
              <a:rPr lang="en-US" dirty="0"/>
              <a:t>MySQL </a:t>
            </a:r>
            <a:r>
              <a:rPr lang="ru-RU" dirty="0"/>
              <a:t>которая развернута на виртуальной машине внутри системы виртуализации </a:t>
            </a:r>
            <a:r>
              <a:rPr lang="en-US" dirty="0" err="1"/>
              <a:t>Proxmox</a:t>
            </a:r>
            <a:br>
              <a:rPr lang="en-US" dirty="0"/>
            </a:br>
            <a:endParaRPr lang="en-US" dirty="0"/>
          </a:p>
          <a:p>
            <a:r>
              <a:rPr lang="en-US" dirty="0"/>
              <a:t>Oracle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349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D86AB7-4336-4DEB-8CB6-0D96926A1059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9575CD"/>
          </a:solidFill>
          <a:ln>
            <a:solidFill>
              <a:srgbClr val="9575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75180-431E-4561-A675-F52C67D81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392" y="463357"/>
            <a:ext cx="9740907" cy="859127"/>
          </a:xfrm>
        </p:spPr>
        <p:txBody>
          <a:bodyPr/>
          <a:lstStyle/>
          <a:p>
            <a:pPr algn="l"/>
            <a:r>
              <a:rPr lang="ru-RU" sz="5400" b="1" dirty="0">
                <a:solidFill>
                  <a:schemeClr val="bg1"/>
                </a:solidFill>
              </a:rPr>
              <a:t>Преимущества проекта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A33B11-D633-4361-AD61-5C8096895A7E}"/>
              </a:ext>
            </a:extLst>
          </p:cNvPr>
          <p:cNvSpPr txBox="1"/>
          <p:nvPr/>
        </p:nvSpPr>
        <p:spPr>
          <a:xfrm>
            <a:off x="406387" y="2222650"/>
            <a:ext cx="9416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Структурированный учебный материал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64F0E2-E55C-43B0-99EF-93AAC9A9E4DC}"/>
              </a:ext>
            </a:extLst>
          </p:cNvPr>
          <p:cNvSpPr txBox="1"/>
          <p:nvPr/>
        </p:nvSpPr>
        <p:spPr>
          <a:xfrm>
            <a:off x="406388" y="5157519"/>
            <a:ext cx="9416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Эффективный контроль успеваемости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4F13F0-2EB3-4D9C-B421-D79EA6945265}"/>
              </a:ext>
            </a:extLst>
          </p:cNvPr>
          <p:cNvSpPr txBox="1"/>
          <p:nvPr/>
        </p:nvSpPr>
        <p:spPr>
          <a:xfrm>
            <a:off x="406386" y="3678520"/>
            <a:ext cx="9416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Отслеживание прогресса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1DF053-1637-4184-AF14-85CA5CD0BAA0}"/>
              </a:ext>
            </a:extLst>
          </p:cNvPr>
          <p:cNvSpPr txBox="1"/>
          <p:nvPr/>
        </p:nvSpPr>
        <p:spPr>
          <a:xfrm>
            <a:off x="11179278" y="6211669"/>
            <a:ext cx="1012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8</a:t>
            </a:r>
            <a:r>
              <a:rPr lang="en-US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/9</a:t>
            </a:r>
            <a:endParaRPr lang="ru-RU" sz="3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140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D86AB7-4336-4DEB-8CB6-0D96926A1059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9575CD"/>
          </a:solidFill>
          <a:ln>
            <a:solidFill>
              <a:srgbClr val="9575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75180-431E-4561-A675-F52C67D81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393" y="463357"/>
            <a:ext cx="7531100" cy="859127"/>
          </a:xfrm>
        </p:spPr>
        <p:txBody>
          <a:bodyPr/>
          <a:lstStyle/>
          <a:p>
            <a:pPr algn="l"/>
            <a:r>
              <a:rPr lang="ru-RU" sz="5400" b="1" dirty="0">
                <a:solidFill>
                  <a:schemeClr val="bg1"/>
                </a:solidFill>
              </a:rPr>
              <a:t>Заключение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31EF9177-AA97-4127-9D72-374304CDC67F}"/>
              </a:ext>
            </a:extLst>
          </p:cNvPr>
          <p:cNvSpPr/>
          <p:nvPr/>
        </p:nvSpPr>
        <p:spPr>
          <a:xfrm>
            <a:off x="406393" y="1646142"/>
            <a:ext cx="11597966" cy="4094258"/>
          </a:xfrm>
          <a:prstGeom prst="roundRect">
            <a:avLst/>
          </a:prstGeom>
          <a:solidFill>
            <a:srgbClr val="9575CD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latin typeface="Verdana" panose="020B0604030504040204" pitchFamily="34" charset="0"/>
                <a:ea typeface="Verdana" panose="020B0604030504040204" pitchFamily="34" charset="0"/>
              </a:rPr>
              <a:t>ПОСТАВЛЕННАЯ ЦЕЛЬ И ВСЕ КОМПЕТЕНЦИИ ЗАКРЫТЫ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85F654-1002-43A1-BC6A-6C57BBB5B8C2}"/>
              </a:ext>
            </a:extLst>
          </p:cNvPr>
          <p:cNvSpPr txBox="1"/>
          <p:nvPr/>
        </p:nvSpPr>
        <p:spPr>
          <a:xfrm>
            <a:off x="11179278" y="6211669"/>
            <a:ext cx="1012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9</a:t>
            </a:r>
            <a:r>
              <a:rPr lang="en-US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/9</a:t>
            </a:r>
            <a:endParaRPr lang="ru-RU" sz="3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782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4047278-09DB-4728-B6E0-AAC638868E5B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9575CD"/>
          </a:solidFill>
          <a:ln>
            <a:solidFill>
              <a:srgbClr val="9575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F29C33-5BA1-45F9-A4CB-731B4D250A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27" y="-254074"/>
            <a:ext cx="9797473" cy="1655763"/>
          </a:xfrm>
        </p:spPr>
        <p:txBody>
          <a:bodyPr/>
          <a:lstStyle/>
          <a:p>
            <a:r>
              <a:rPr lang="ru-RU" sz="1200" dirty="0">
                <a:solidFill>
                  <a:schemeClr val="bg1"/>
                </a:solidFill>
              </a:rPr>
              <a:t>ФЕДЕРАЛЬНОЕ ГОСУДАРСТВЕННОЕ БЮДЖЕТНОЕ ОБРАЗОВАТЕЛЬНОЕ УЧРЕЖДЕНИЕ ВЫСШЕГО ОБРАЗОВАНИЯ </a:t>
            </a:r>
            <a:br>
              <a:rPr lang="ru-RU" sz="1200" dirty="0">
                <a:solidFill>
                  <a:schemeClr val="bg1"/>
                </a:solidFill>
              </a:rPr>
            </a:br>
            <a:r>
              <a:rPr lang="ru-RU" sz="1200" dirty="0">
                <a:solidFill>
                  <a:schemeClr val="bg1"/>
                </a:solidFill>
              </a:rPr>
              <a:t>«САНКТ-ПЕТЕРБУРГСКИЙ ГОСУДАРСТВЕННЫЙ УНИВЕРСИТЕТ ТЕЛЕКОММУНИКАЦИЙ ИМ. ПРОФ. М.А. БОНЧ-БРУЕВИЧА» </a:t>
            </a:r>
            <a:br>
              <a:rPr lang="ru-RU" sz="1200" dirty="0">
                <a:solidFill>
                  <a:schemeClr val="bg1"/>
                </a:solidFill>
              </a:rPr>
            </a:br>
            <a:r>
              <a:rPr lang="ru-RU" sz="1200" dirty="0">
                <a:solidFill>
                  <a:schemeClr val="bg1"/>
                </a:solidFill>
              </a:rPr>
              <a:t>(</a:t>
            </a:r>
            <a:r>
              <a:rPr lang="ru-RU" sz="1200" dirty="0" err="1">
                <a:solidFill>
                  <a:schemeClr val="bg1"/>
                </a:solidFill>
              </a:rPr>
              <a:t>СПбГУТ</a:t>
            </a:r>
            <a:r>
              <a:rPr lang="ru-RU" sz="1200" dirty="0">
                <a:solidFill>
                  <a:schemeClr val="bg1"/>
                </a:solidFill>
              </a:rPr>
              <a:t>) </a:t>
            </a:r>
            <a:br>
              <a:rPr lang="ru-RU" sz="1200" dirty="0">
                <a:solidFill>
                  <a:schemeClr val="bg1"/>
                </a:solidFill>
              </a:rPr>
            </a:br>
            <a:br>
              <a:rPr lang="ru-RU" sz="1200" dirty="0">
                <a:solidFill>
                  <a:schemeClr val="bg1"/>
                </a:solidFill>
              </a:rPr>
            </a:br>
            <a:r>
              <a:rPr lang="ru-RU" sz="1200" dirty="0">
                <a:solidFill>
                  <a:schemeClr val="bg1"/>
                </a:solidFill>
              </a:rPr>
              <a:t>АРХАНГЕЛЬСКИЙ КОЛЛЕДЖ ТЕЛЕКОММУНИКАЦИЙ </a:t>
            </a:r>
            <a:br>
              <a:rPr lang="ru-RU" sz="1200" dirty="0">
                <a:solidFill>
                  <a:schemeClr val="bg1"/>
                </a:solidFill>
              </a:rPr>
            </a:br>
            <a:r>
              <a:rPr lang="ru-RU" sz="1200" dirty="0">
                <a:solidFill>
                  <a:schemeClr val="bg1"/>
                </a:solidFill>
              </a:rPr>
              <a:t>ИМ. Б.Л. РОЗИНГА (ФИЛИАЛ) </a:t>
            </a:r>
            <a:r>
              <a:rPr lang="ru-RU" sz="1200" dirty="0" err="1">
                <a:solidFill>
                  <a:schemeClr val="bg1"/>
                </a:solidFill>
              </a:rPr>
              <a:t>СПбГУТ</a:t>
            </a:r>
            <a:r>
              <a:rPr lang="ru-RU" sz="1200" dirty="0">
                <a:solidFill>
                  <a:schemeClr val="bg1"/>
                </a:solidFill>
              </a:rPr>
              <a:t> </a:t>
            </a:r>
            <a:br>
              <a:rPr lang="ru-RU" sz="1200" dirty="0">
                <a:solidFill>
                  <a:schemeClr val="bg1"/>
                </a:solidFill>
              </a:rPr>
            </a:br>
            <a:r>
              <a:rPr lang="ru-RU" sz="1200" dirty="0">
                <a:solidFill>
                  <a:schemeClr val="bg1"/>
                </a:solidFill>
              </a:rPr>
              <a:t>(АКТ (ф) </a:t>
            </a:r>
            <a:r>
              <a:rPr lang="ru-RU" sz="1200" dirty="0" err="1">
                <a:solidFill>
                  <a:schemeClr val="bg1"/>
                </a:solidFill>
              </a:rPr>
              <a:t>СПбГУТ</a:t>
            </a:r>
            <a:r>
              <a:rPr lang="ru-RU" sz="1200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F4BD00-8162-46D3-B6F5-B1006ADE9AF0}"/>
              </a:ext>
            </a:extLst>
          </p:cNvPr>
          <p:cNvSpPr txBox="1"/>
          <p:nvPr/>
        </p:nvSpPr>
        <p:spPr>
          <a:xfrm>
            <a:off x="3923145" y="1941563"/>
            <a:ext cx="4327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КУРСОВОЙ ПРОЕКТ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01B4B1-CD19-40A0-A013-4A883F39D3A9}"/>
              </a:ext>
            </a:extLst>
          </p:cNvPr>
          <p:cNvSpPr txBox="1"/>
          <p:nvPr/>
        </p:nvSpPr>
        <p:spPr>
          <a:xfrm>
            <a:off x="1727200" y="2792076"/>
            <a:ext cx="91567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РАЗРАБОТКА ОБУЧАЮЩЕЙ ПРОГРАММЫ</a:t>
            </a:r>
            <a:b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«РУССКИЙ ЯЗЫК. СИНТАКСИС И ПУНКТУАЦИЯ»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91ECB256-309C-437C-B152-F2AC62350393}"/>
              </a:ext>
            </a:extLst>
          </p:cNvPr>
          <p:cNvGrpSpPr/>
          <p:nvPr/>
        </p:nvGrpSpPr>
        <p:grpSpPr>
          <a:xfrm>
            <a:off x="193963" y="4523878"/>
            <a:ext cx="7213599" cy="752519"/>
            <a:chOff x="240146" y="3990109"/>
            <a:chExt cx="6650182" cy="75251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039DEEF-DF2A-41B9-B148-7E187E7F2C2E}"/>
                </a:ext>
              </a:extLst>
            </p:cNvPr>
            <p:cNvSpPr txBox="1"/>
            <p:nvPr/>
          </p:nvSpPr>
          <p:spPr>
            <a:xfrm>
              <a:off x="240146" y="3990109"/>
              <a:ext cx="66501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Студент группы ИСПП-21: </a:t>
              </a:r>
              <a:r>
                <a:rPr lang="ru-RU" dirty="0" err="1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Вепрёв</a:t>
              </a:r>
              <a:r>
                <a:rPr lang="ru-RU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 Александр Михайлович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623DD83-F2EA-49FE-B6A7-71620CA3BF97}"/>
                </a:ext>
              </a:extLst>
            </p:cNvPr>
            <p:cNvSpPr txBox="1"/>
            <p:nvPr/>
          </p:nvSpPr>
          <p:spPr>
            <a:xfrm>
              <a:off x="240146" y="4373296"/>
              <a:ext cx="66501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Руководитель: </a:t>
              </a:r>
              <a:r>
                <a:rPr lang="ru-RU" dirty="0" err="1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Маломан</a:t>
              </a:r>
              <a:r>
                <a:rPr lang="ru-RU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 Юлия Сергеевна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ADF00D8-E8D2-48D5-B0BD-34EDFF1C4EBE}"/>
              </a:ext>
            </a:extLst>
          </p:cNvPr>
          <p:cNvSpPr txBox="1"/>
          <p:nvPr/>
        </p:nvSpPr>
        <p:spPr>
          <a:xfrm>
            <a:off x="4987636" y="6403263"/>
            <a:ext cx="2198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Архангельск, 2025</a:t>
            </a:r>
          </a:p>
        </p:txBody>
      </p:sp>
    </p:spTree>
    <p:extLst>
      <p:ext uri="{BB962C8B-B14F-4D97-AF65-F5344CB8AC3E}">
        <p14:creationId xmlns:p14="http://schemas.microsoft.com/office/powerpoint/2010/main" val="9974830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575CD"/>
        </a:solidFill>
        <a:ln>
          <a:solidFill>
            <a:srgbClr val="9575CD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390</Words>
  <Application>Microsoft Office PowerPoint</Application>
  <PresentationFormat>Широкоэкранный</PresentationFormat>
  <Paragraphs>59</Paragraphs>
  <Slides>10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Verdana</vt:lpstr>
      <vt:lpstr>Wingdings</vt:lpstr>
      <vt:lpstr>Тема Office</vt:lpstr>
      <vt:lpstr>ФЕДЕРАЛЬНОЕ ГОСУДАРСТВЕННОЕ БЮДЖЕТНОЕ ОБРАЗОВАТЕЛЬНОЕ УЧРЕЖДЕНИЕ ВЫСШЕГО ОБРАЗОВАНИЯ  «САНКТ-ПЕТЕРБУРГСКИЙ ГОСУДАРСТВЕННЫЙ УНИВЕРСИТЕТ ТЕЛЕКОММУНИКАЦИЙ ИМ. ПРОФ. М.А. БОНЧ-БРУЕВИЧА»  (СПбГУТ)   АРХАНГЕЛЬСКИЙ КОЛЛЕДЖ ТЕЛЕКОММУНИКАЦИЙ  ИМ. Б.Л. РОЗИНГА (ФИЛИАЛ) СПбГУТ  (АКТ (ф) СПбГУТ) </vt:lpstr>
      <vt:lpstr>Актуальность</vt:lpstr>
      <vt:lpstr>Целевая аудитория</vt:lpstr>
      <vt:lpstr>Цель</vt:lpstr>
      <vt:lpstr>Задачи</vt:lpstr>
      <vt:lpstr>Средства разработки</vt:lpstr>
      <vt:lpstr>Архитектура системы</vt:lpstr>
      <vt:lpstr>Преимущества проекта</vt:lpstr>
      <vt:lpstr>Заключение</vt:lpstr>
      <vt:lpstr>ФЕДЕРАЛЬНОЕ ГОСУДАРСТВЕННОЕ БЮДЖЕТНОЕ ОБРАЗОВАТЕЛЬНОЕ УЧРЕЖДЕНИЕ ВЫСШЕГО ОБРАЗОВАНИЯ  «САНКТ-ПЕТЕРБУРГСКИЙ ГОСУДАРСТВЕННЫЙ УНИВЕРСИТЕТ ТЕЛЕКОММУНИКАЦИЙ ИМ. ПРОФ. М.А. БОНЧ-БРУЕВИЧА»  (СПбГУТ)   АРХАНГЕЛЬСКИЙ КОЛЛЕДЖ ТЕЛЕКОММУНИКАЦИЙ  ИМ. Б.Л. РОЗИНГА (ФИЛИАЛ) СПбГУТ  (АКТ (ф) СПбГУТ)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ФЕДЕРАЛЬНОЕ ГОСУДАРСТВЕННОЕ БЮДЖЕТНОЕ ОБРАЗОВАТЕЛЬНОЕ УЧРЕЖДЕНИЕ ВЫСШЕГО ОБРАЗОВАНИЯ  «САНКТ-ПЕТЕРБУРГСКИЙ ГОСУДАРСТВЕННЫЙ УНИВЕРСИТЕТ ТЕЛЕКОММУНИКАЦИЙ ИМ. ПРОФ. М.А. БОНЧ-БРУЕВИЧА»  (СПбГУТ)   АРХАНГЕЛЬСКИЙ КОЛЛЕДЖ ТЕЛЕКОММУНИКАЦИЙ  ИМ. Б.Л. РОЗИНГА (ФИЛИАЛ) СПбГУТ  (АКТ (ф) СПбГУТ) </dc:title>
  <dc:creator>Angel Notice</dc:creator>
  <cp:lastModifiedBy>Angel Notice</cp:lastModifiedBy>
  <cp:revision>83</cp:revision>
  <dcterms:created xsi:type="dcterms:W3CDTF">2025-12-08T18:52:06Z</dcterms:created>
  <dcterms:modified xsi:type="dcterms:W3CDTF">2025-12-09T19:47:32Z</dcterms:modified>
</cp:coreProperties>
</file>